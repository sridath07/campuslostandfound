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64ad66f1384d52" /><Relationship Type="http://schemas.openxmlformats.org/officeDocument/2006/relationships/extended-properties" Target="/docProps/app.xml" Id="R64f92460eb944e75" /><Relationship Type="http://schemas.openxmlformats.org/officeDocument/2006/relationships/officeDocument" Target="/ppt/presentation.xml" Id="R8542e0f410894b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3ac3b15d53485e"/>
  </p:sldMasterIdLst>
  <p:notesMasterIdLst>
    <p:notesMasterId xmlns:r="http://schemas.openxmlformats.org/officeDocument/2006/relationships" r:id="R880feeb058d74acb"/>
  </p:notesMasterIdLst>
  <p:sldIdLst>
    <p:sldId xmlns:r="http://schemas.openxmlformats.org/officeDocument/2006/relationships" id="256" r:id="R8d28e4ca524f4f6b"/>
    <p:sldId xmlns:r="http://schemas.openxmlformats.org/officeDocument/2006/relationships" id="257" r:id="R4e6a39cd100c40bf"/>
    <p:sldId xmlns:r="http://schemas.openxmlformats.org/officeDocument/2006/relationships" id="258" r:id="Rac0a7fdc45fd4853"/>
    <p:sldId xmlns:r="http://schemas.openxmlformats.org/officeDocument/2006/relationships" id="259" r:id="R3de0b8d542b2472a"/>
    <p:sldId xmlns:r="http://schemas.openxmlformats.org/officeDocument/2006/relationships" id="260" r:id="Re1d676ce201d4722"/>
    <p:sldId xmlns:r="http://schemas.openxmlformats.org/officeDocument/2006/relationships" id="261" r:id="R75a73d44d6354333"/>
    <p:sldId xmlns:r="http://schemas.openxmlformats.org/officeDocument/2006/relationships" id="262" r:id="R8da745064d2944a9"/>
    <p:sldId xmlns:r="http://schemas.openxmlformats.org/officeDocument/2006/relationships" id="263" r:id="R7f3226a7cff84017"/>
    <p:sldId xmlns:r="http://schemas.openxmlformats.org/officeDocument/2006/relationships" id="264" r:id="Ra2cbd5cf721c4901"/>
    <p:sldId xmlns:r="http://schemas.openxmlformats.org/officeDocument/2006/relationships" id="265" r:id="R239656f5c9924ed5"/>
    <p:sldId xmlns:r="http://schemas.openxmlformats.org/officeDocument/2006/relationships" id="266" r:id="R702eca3157424c96"/>
    <p:sldId xmlns:r="http://schemas.openxmlformats.org/officeDocument/2006/relationships" id="267" r:id="R45096fc066be49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fd2b7619e74a70" /><Relationship Type="http://schemas.openxmlformats.org/officeDocument/2006/relationships/slideMaster" Target="/ppt/slideMasters/slideMaster1.xml" Id="R2f3ac3b15d53485e" /><Relationship Type="http://schemas.openxmlformats.org/officeDocument/2006/relationships/notesMaster" Target="/ppt/notesMasters/notesMaster1.xml" Id="R880feeb058d74acb" /><Relationship Type="http://schemas.openxmlformats.org/officeDocument/2006/relationships/presProps" Target="/ppt/presProps.xml" Id="R85c80e9f5a854836" /><Relationship Type="http://schemas.openxmlformats.org/officeDocument/2006/relationships/tableStyles" Target="/ppt/tableStyles.xml" Id="R1027781cd8de42c8" /><Relationship Type="http://schemas.openxmlformats.org/officeDocument/2006/relationships/slide" Target="/ppt/slides/slide1.xml" Id="R8d28e4ca524f4f6b" /><Relationship Type="http://schemas.openxmlformats.org/officeDocument/2006/relationships/slide" Target="/ppt/slides/slide2.xml" Id="R4e6a39cd100c40bf" /><Relationship Type="http://schemas.openxmlformats.org/officeDocument/2006/relationships/slide" Target="/ppt/slides/slide3.xml" Id="Rac0a7fdc45fd4853" /><Relationship Type="http://schemas.openxmlformats.org/officeDocument/2006/relationships/slide" Target="/ppt/slides/slide4.xml" Id="R3de0b8d542b2472a" /><Relationship Type="http://schemas.openxmlformats.org/officeDocument/2006/relationships/slide" Target="/ppt/slides/slide5.xml" Id="Re1d676ce201d4722" /><Relationship Type="http://schemas.openxmlformats.org/officeDocument/2006/relationships/slide" Target="/ppt/slides/slide6.xml" Id="R75a73d44d6354333" /><Relationship Type="http://schemas.openxmlformats.org/officeDocument/2006/relationships/slide" Target="/ppt/slides/slide7.xml" Id="R8da745064d2944a9" /><Relationship Type="http://schemas.openxmlformats.org/officeDocument/2006/relationships/slide" Target="/ppt/slides/slide8.xml" Id="R7f3226a7cff84017" /><Relationship Type="http://schemas.openxmlformats.org/officeDocument/2006/relationships/slide" Target="/ppt/slides/slide9.xml" Id="Ra2cbd5cf721c4901" /><Relationship Type="http://schemas.openxmlformats.org/officeDocument/2006/relationships/slide" Target="/ppt/slides/slide10.xml" Id="R239656f5c9924ed5" /><Relationship Type="http://schemas.openxmlformats.org/officeDocument/2006/relationships/slide" Target="/ppt/slides/slide11.xml" Id="R702eca3157424c96" /><Relationship Type="http://schemas.openxmlformats.org/officeDocument/2006/relationships/slide" Target="/ppt/slides/slide12.xml" Id="R45096fc066be49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8bbdc606724f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70a90bb0dd4837" /><Relationship Type="http://schemas.openxmlformats.org/officeDocument/2006/relationships/notesMaster" Target="/ppt/notesMasters/notesMaster1.xml" Id="Rbe00d351c69242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2935b8713d4b9b" /><Relationship Type="http://schemas.openxmlformats.org/officeDocument/2006/relationships/notesMaster" Target="/ppt/notesMasters/notesMaster1.xml" Id="R05dfde8de36c49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0c59770134fcb" /><Relationship Type="http://schemas.openxmlformats.org/officeDocument/2006/relationships/notesMaster" Target="/ppt/notesMasters/notesMaster1.xml" Id="Rf690c20e4dcf4d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55d352a644dd2" /><Relationship Type="http://schemas.openxmlformats.org/officeDocument/2006/relationships/notesMaster" Target="/ppt/notesMasters/notesMaster1.xml" Id="R049ca9ceb5134b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6a60107a7d441c" /><Relationship Type="http://schemas.openxmlformats.org/officeDocument/2006/relationships/notesMaster" Target="/ppt/notesMasters/notesMaster1.xml" Id="Rc356934f1ee44e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dc7d2b3b86451d" /><Relationship Type="http://schemas.openxmlformats.org/officeDocument/2006/relationships/notesMaster" Target="/ppt/notesMasters/notesMaster1.xml" Id="R4e897797659241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f4c13fc97e42b0" /><Relationship Type="http://schemas.openxmlformats.org/officeDocument/2006/relationships/notesMaster" Target="/ppt/notesMasters/notesMaster1.xml" Id="R3b06ac498c1649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da1b08038d4ee7" /><Relationship Type="http://schemas.openxmlformats.org/officeDocument/2006/relationships/notesMaster" Target="/ppt/notesMasters/notesMaster1.xml" Id="Rc220dd08391b45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1afca556274e35" /><Relationship Type="http://schemas.openxmlformats.org/officeDocument/2006/relationships/notesMaster" Target="/ppt/notesMasters/notesMaster1.xml" Id="Rf15df75fdc7a48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a4d297a1414bc5" /><Relationship Type="http://schemas.openxmlformats.org/officeDocument/2006/relationships/notesMaster" Target="/ppt/notesMasters/notesMaster1.xml" Id="R65cd615a19b344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1e8ad8daf44d51" /><Relationship Type="http://schemas.openxmlformats.org/officeDocument/2006/relationships/notesMaster" Target="/ppt/notesMasters/notesMaster1.xml" Id="R94564c9a764f46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8ec47a4aac4bbf" /><Relationship Type="http://schemas.openxmlformats.org/officeDocument/2006/relationships/notesMaster" Target="/ppt/notesMasters/notesMaster1.xml" Id="R240289b05d6548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application and its purpose in one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this is a lab prototype, not a deployed campus-wide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requirements in user terms and identify the fields each report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OPEN reports can be claimed; only CLAIMED reports can be marked RETURNED.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coordinates the service and repository. The service applies rules; the repository handles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hierarchy, composition relationship, and enum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Encapsulation controls state. Abstraction exposes shared behavior and leaves subtype-specific type to children.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an ItemReport variable that refers to either subtype as your runtime polymorphism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Inheritance is is-a; composition is has-a. ArrayList implements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heuristic text matching, not machine learning; synonyms may be missed.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data file, temporary write, and Base64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brief demo if time allows. Close by noting the structure and constraints;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reference: outputs/CampusLostAndFound/src/main/java/edu/campus/lostfound.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9cc615daf42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ed8fd94354f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0cb5cd3614a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07675754845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50cd5fde64e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00329831142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DD5C94-4A17-4009-BE63-A939408DF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41DCBF-3F60-4231-ADE6-3EE4D35026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84EF8A-242A-4737-8408-F8B027C91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F273AC-D4D4-4B68-B97A-DEE20D3D2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B02BA0-AF88-48B6-BED3-AFD52925F1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F5D87B-93A9-4273-9B23-94A060F10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8CE038-F304-45E8-A42E-C30695EB6F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08F09A-6E38-4C0A-96BC-DB2749F8ED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B72485-4288-4955-875F-963CCD87A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9F49E5-3B6A-45B9-9670-5F0C670BD5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07801e9224357" /><Relationship Type="http://schemas.openxmlformats.org/officeDocument/2006/relationships/slideLayout" Target="/ppt/slideLayouts/slideLayout1.xml" Id="R09d2be7b467349ca" /><Relationship Type="http://schemas.openxmlformats.org/officeDocument/2006/relationships/slideLayout" Target="/ppt/slideLayouts/slideLayout2.xml" Id="R0d152098017d4d21" /><Relationship Type="http://schemas.openxmlformats.org/officeDocument/2006/relationships/slideLayout" Target="/ppt/slideLayouts/slideLayout3.xml" Id="Rc559da2e5b6440a3" /><Relationship Type="http://schemas.openxmlformats.org/officeDocument/2006/relationships/slideLayout" Target="/ppt/slideLayouts/slideLayout4.xml" Id="Rf86f1d8bcd984923" /><Relationship Type="http://schemas.openxmlformats.org/officeDocument/2006/relationships/slideLayout" Target="/ppt/slideLayouts/slideLayout5.xml" Id="R493a45d29b6b421a" /><Relationship Type="http://schemas.openxmlformats.org/officeDocument/2006/relationships/slideLayout" Target="/ppt/slideLayouts/slideLayout6.xml" Id="Rca8509e06cb141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2be7b467349ca"/>
    <p:sldLayoutId xmlns:r="http://schemas.openxmlformats.org/officeDocument/2006/relationships" id="2147483650" r:id="R0d152098017d4d21"/>
    <p:sldLayoutId xmlns:r="http://schemas.openxmlformats.org/officeDocument/2006/relationships" id="2147483651" r:id="Rc559da2e5b6440a3"/>
    <p:sldLayoutId xmlns:r="http://schemas.openxmlformats.org/officeDocument/2006/relationships" id="2147483652" r:id="Rf86f1d8bcd984923"/>
    <p:sldLayoutId xmlns:r="http://schemas.openxmlformats.org/officeDocument/2006/relationships" id="2147483653" r:id="R493a45d29b6b421a"/>
    <p:sldLayoutId xmlns:r="http://schemas.openxmlformats.org/officeDocument/2006/relationships" id="2147483654" r:id="Rca8509e06cb141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31bfd9f474119" /><Relationship Type="http://schemas.openxmlformats.org/officeDocument/2006/relationships/notesSlide" Target="/ppt/notesSlides/notesSlide1.xml" Id="R956c528606e748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c1c7aae5149fa" /><Relationship Type="http://schemas.openxmlformats.org/officeDocument/2006/relationships/notesSlide" Target="/ppt/notesSlides/notesSlide2.xml" Id="R71ea143a2c3c48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9b315d24947fe" /><Relationship Type="http://schemas.openxmlformats.org/officeDocument/2006/relationships/notesSlide" Target="/ppt/notesSlides/notesSlide3.xml" Id="R848ab106d000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13798758347c7" /><Relationship Type="http://schemas.openxmlformats.org/officeDocument/2006/relationships/notesSlide" Target="/ppt/notesSlides/notesSlide4.xml" Id="Rb5ec8abbaa604e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e07fb39fc48eb" /><Relationship Type="http://schemas.openxmlformats.org/officeDocument/2006/relationships/notesSlide" Target="/ppt/notesSlides/notesSlide5.xml" Id="Rfa76c3ddd0e04f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732d86cc044bd" /><Relationship Type="http://schemas.openxmlformats.org/officeDocument/2006/relationships/notesSlide" Target="/ppt/notesSlides/notesSlide6.xml" Id="R84ff61efbc3046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0bf0b51504f99" /><Relationship Type="http://schemas.openxmlformats.org/officeDocument/2006/relationships/notesSlide" Target="/ppt/notesSlides/notesSlide7.xml" Id="R4c4dc3664cc349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2c8f2574b4fb9" /><Relationship Type="http://schemas.openxmlformats.org/officeDocument/2006/relationships/notesSlide" Target="/ppt/notesSlides/notesSlide8.xml" Id="Rc799fa56f8cd48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57f46a4854eea" /><Relationship Type="http://schemas.openxmlformats.org/officeDocument/2006/relationships/notesSlide" Target="/ppt/notesSlides/notesSlide9.xml" Id="R0eaee30825d549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96ce674ad4c70" /><Relationship Type="http://schemas.openxmlformats.org/officeDocument/2006/relationships/notesSlide" Target="/ppt/notesSlides/notesSlide10.xml" Id="Re0cb6ece379b46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09c6ac0994e48" /><Relationship Type="http://schemas.openxmlformats.org/officeDocument/2006/relationships/notesSlide" Target="/ppt/notesSlides/notesSlide11.xml" Id="R156f932684d647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27f22702f40da" /><Relationship Type="http://schemas.openxmlformats.org/officeDocument/2006/relationships/notesSlide" Target="/ppt/notesSlides/notesSlide12.xml" Id="R8aa9070762094f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8E02F-7411-4559-BB90-AF07D634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038BE-B781-4DCF-9B0D-AF105733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9537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16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187BB-F9C8-4207-8F44-26211612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85470-990F-4998-93E6-6B2C96CC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B7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6B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B7C9"/>
                </a:solidFill>
                <a:latin typeface="Arial"/>
                <a:ea typeface="Arial"/>
                <a:cs typeface="Arial"/>
              </a:rPr>
              <a:t>JAVA OBJECT ORIENTED PROGRAMMING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46586-21C4-42DA-9BEC-5D2A5193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781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Campus Lost-and-Found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3451F-27B0-420B-A6DE-376FE2D2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5E0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5E0E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5E0EC"/>
                </a:solidFill>
                <a:latin typeface="Arial"/>
                <a:ea typeface="Arial"/>
                <a:cs typeface="Arial"/>
              </a:rPr>
              <a:t>A Java console application for reporting, searching, and returning lost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43496-86DA-43B6-9367-4F343EF8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l">
              <a:defRPr sz="1275" b="0">
                <a:solidFill>
                  <a:srgbClr val="B7C7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7C7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7D8"/>
                </a:solidFill>
                <a:latin typeface="Arial"/>
                <a:ea typeface="Arial"/>
                <a:cs typeface="Arial"/>
              </a:rPr>
              <a:t>Java 17 compatible  •  Runs on Java 21</a:t>
            </a:r>
          </a:p>
        </p:txBody>
      </p:sp>
    </p:spTree>
    <p:extLst>
      <p:ext uri="{BB962C8B-B14F-4D97-AF65-F5344CB8AC3E}">
        <p14:creationId xmlns:p14="http://schemas.microsoft.com/office/powerpoint/2010/main" val="555994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1D187-2B6D-42D5-8CE1-C36C18A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1BFCE-28B9-473B-981A-E5ACEC28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Problem, goal, and project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8E7FF-C36A-4FD3-8F05-082D5DDB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542B7-D289-47BC-849A-551B52F5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64AF1-A628-4B68-84DF-1A594B0C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126B7-3B6E-4B68-A3C3-BD503FEC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048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1BB33-3FA4-4EA5-87E4-9E0EB73D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D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B91BF-A5EA-4D41-88CA-AF077FA8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Campus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F03E5-128B-47BC-8B6C-A3D4E29E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46291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Reports are scattered across messages and noticeboards. Finders and owners may not know how to connect.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D4288-98AF-429E-80C4-614C7443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66850"/>
            <a:ext cx="5048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D233D-95AF-4A12-B705-D605262A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668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D7276-57EE-4F94-837B-07EF690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002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00747-8AD3-494B-9566-E33266F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71675"/>
            <a:ext cx="46291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Keep one searchable register and guide each report through a clear claim and return workflow.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78FD6-C045-4F81-9032-63DC54E8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 algn="l">
              <a:defRPr sz="172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Scope of this 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F617A-6978-4428-BCF4-C2A86C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2C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D2C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C3B"/>
                </a:solidFill>
                <a:latin typeface="Arial"/>
                <a:ea typeface="Arial"/>
                <a:cs typeface="Arial"/>
              </a:rPr>
              <a:t>Console-based  •  One local data file  •  One active process  •  No authentication or network service</a:t>
            </a:r>
          </a:p>
        </p:txBody>
      </p:sp>
    </p:spTree>
    <p:extLst>
      <p:ext uri="{BB962C8B-B14F-4D97-AF65-F5344CB8AC3E}">
        <p14:creationId xmlns:p14="http://schemas.microsoft.com/office/powerpoint/2010/main" val="1801242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10F83-66F1-4DA2-AF6C-A9C4A560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67497-F88A-4946-9A51-04DABD2C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Requirements and user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C67E0-8D2C-4F81-9C2A-2559B276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C9D10-34C6-4033-8BF4-F54D9C8E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6C852-B929-4088-A5DF-17218355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5B3B-B0E1-4AD7-B252-EF6BB198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519112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710B3-160C-4D2E-9019-F522FC7E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988AB-5DED-447C-9241-BEA10C91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Core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17D44-0EF9-43D4-B9D1-BDF60BDB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772025" cy="326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Create lost and found reports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View all or open reports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Search by item details or reporter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Suggest possible matches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Claim a report and mark it returned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1B060-54F3-4023-8662-B11CE96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38275"/>
            <a:ext cx="519112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FC3B2-5137-48EE-A568-A5592FFE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38275"/>
            <a:ext cx="666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9196E-4B4F-40DE-BB9F-FD7A0918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7162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Information entered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08C60-3DC5-4FC1-BD7E-4E021D42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43100"/>
            <a:ext cx="4772025" cy="326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Item name, description, category, location, reporter name, campus ID, and contact.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Searchers use a keyword. Claimants use a report ID and campus ID.</a:t>
            </a:r>
          </a:p>
        </p:txBody>
      </p:sp>
    </p:spTree>
    <p:extLst>
      <p:ext uri="{BB962C8B-B14F-4D97-AF65-F5344CB8AC3E}">
        <p14:creationId xmlns:p14="http://schemas.microsoft.com/office/powerpoint/2010/main" val="835707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15F304-A658-4E35-A0E5-3092953D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5D03E-8998-43AD-B15A-D3461608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Application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C565A-2D5C-481B-AC12-76B5C66A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7C5A5-E51F-4655-B058-09A21F4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0BAD9-21C0-4729-9136-C759B507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6EEBB-ED3F-46BE-B3AD-16EB4E2A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762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9F55B-19E4-4DFE-8604-2B7BAA34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79070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EC4E3-5696-4FD0-A5D2-62D5432E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524125"/>
            <a:ext cx="18288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7EB02-2DD7-4CEC-8EE0-14EE524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765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D2FEA-506C-4C1C-BC2E-90D45ABD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76575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Create a lost/found entry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60EE4-BF88-4A5F-ABE2-5FC3A011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19425"/>
            <a:ext cx="38100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6C375-27C9-4DE5-8182-B408289F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62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EAE46-CE12-4E4B-A92A-1F91760B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9070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4D6AF-F7EC-4EAC-A446-FA23981F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24125"/>
            <a:ext cx="18288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36C98-D4DA-4772-802D-1A22B77B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765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367FA-DD36-4B44-A4D0-C5394697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76575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View or filter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B3EDA-8F88-4CC2-B061-9D53576F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19425"/>
            <a:ext cx="38100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EFAA1-F555-421D-B37E-AE3AAED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62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F4F6F-6E5B-4CE0-9682-0E84E26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9070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02A30-3244-42C2-84BC-3E0DAC2E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24125"/>
            <a:ext cx="18288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6E69C-9272-46AB-A47C-A0525B02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765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2C5E5-5841-40BD-AE55-CE2A4871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076575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Review candidates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1F850-50DF-4BA4-AD81-E0BDADA8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19425"/>
            <a:ext cx="38100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54B7F-C19F-41F0-BB25-FF4131CC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62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7FD98-0CCC-455C-ABBF-F25CA8AA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9070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BF844-012F-47A0-8B25-5D79B44E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524125"/>
            <a:ext cx="18288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64069-6224-47AB-B27E-93333068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765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D9A5DA-93A0-47DE-AFD3-DE701DF3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76575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Record campus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60B8C5-3E7A-4095-888B-3C757A2C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19425"/>
            <a:ext cx="38100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4797C-FA93-491A-90B4-5A7DF99B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762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866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25149-EA10-498F-BE23-DBE67C6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79070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ACFBA2-9BD5-45CC-B6F4-DE9A8809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24125"/>
            <a:ext cx="18288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698F9-2DD2-4425-A67C-8F44C161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765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D7FC58-F483-475D-808F-AE201A9C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76575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Complete handoff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1371F-B0B3-465D-9D10-7892A867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857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F2DC2E-A60C-4E6A-BC99-429C0B95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672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OPEN  →  CLAIMED  →  RETURNED</a:t>
            </a:r>
          </a:p>
        </p:txBody>
      </p:sp>
    </p:spTree>
    <p:extLst>
      <p:ext uri="{BB962C8B-B14F-4D97-AF65-F5344CB8AC3E}">
        <p14:creationId xmlns:p14="http://schemas.microsoft.com/office/powerpoint/2010/main" val="1671113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7B7D8-0ADB-4EA1-A8A1-0C69285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64D48-EC3F-4187-ACF6-86075D4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Architecture and separation of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3EA1E-25D9-4BEA-84D1-B8A8F19E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05BB2-2E80-44F3-ADFE-76EDD33D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D3CDE-974E-4C39-B706-969CF8C0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A10BF-F186-47E0-ABCE-04F89A16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31432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1DA91-03CC-49EC-A73A-8622FBBC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1FCDD-0433-44FC-BFB0-5FEAC7A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E7E21-0A3D-4DF5-A6D5-2A9716F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27241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Console menu, input,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0BD57-0C30-44AB-820A-6DCB600F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31432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DD42C-B01C-40EE-A5A1-3D9434EF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C231A-9D82-43CC-A7E2-199AF111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LostAndFoundService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173EF-ABA9-4D6A-A691-301CFA7A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28825"/>
            <a:ext cx="27241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Creation, search, matching, state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B5126-45F3-4170-8ED0-4ED44DBA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31432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BC6C3-5CB5-4ECB-96C7-3B62CC2E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C46F5-1A42-45A8-A4F5-DC10E13D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573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ReportRepository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0D4F9-3BF5-4912-A562-AC73C97C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28825"/>
            <a:ext cx="27241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Read and write the local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C5817-E83F-4DF9-88ED-5BF31E0E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FF82E-EE02-4F26-B709-888BC2D4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Main calls the service for rules and the repository for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28A9B-78F3-41AF-8569-37D7E3B3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3429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1CB8D-F325-4BEE-86CF-463ED89E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49ECF-C110-4C4A-8F5C-03890335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909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Domain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29B86-5AAB-4471-A059-85CF9137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62450"/>
            <a:ext cx="3009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User and ItemReport subclasses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B01D3-DF79-42EB-84B8-12DDC904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57625"/>
            <a:ext cx="3429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0F4B6-9A9A-41C1-ABEB-5C79B513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57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66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66882-23C1-420E-A1A5-8D021617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909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Stored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93D98-DC81-41C5-8A06-00AE843B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62450"/>
            <a:ext cx="3009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data/reports.tsv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08AB97-AD82-45D9-B9DF-ECC0A1BF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5782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D2C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C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C3B"/>
                </a:solidFill>
                <a:latin typeface="Arial"/>
                <a:ea typeface="Arial"/>
                <a:cs typeface="Arial"/>
              </a:rPr>
              <a:t>Console code, business rules, and storage concerns stay distinct.</a:t>
            </a:r>
          </a:p>
        </p:txBody>
      </p:sp>
    </p:spTree>
    <p:extLst>
      <p:ext uri="{BB962C8B-B14F-4D97-AF65-F5344CB8AC3E}">
        <p14:creationId xmlns:p14="http://schemas.microsoft.com/office/powerpoint/2010/main" val="134841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97AF4-BBF6-448B-B863-714BE92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6F9F6-0E12-4557-B5B1-C2606B9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Class model and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FA35A-2510-4A63-8553-F7FBC875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A8769-F8CD-478E-9308-363EC16D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FED5E-C0F8-4B33-A79E-B69BDB8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E5DCD-E7C8-4BED-8D13-8016B8D4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09700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CA262-31E6-4558-8984-1B4E0C51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 algn="ctr">
              <a:defRPr sz="172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ItemReport  «abstract»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FACFC-4A32-4EB4-ACB5-690CF4EF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>
            <a:def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shared fields + lifecycle methods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E2C13-2122-42DE-8D29-B241304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4953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806A2-DEA6-47CD-A34D-5CAD62E0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4953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A2C9F-B63B-4987-8965-675EA11B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52775"/>
            <a:ext cx="21907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992AA-56F8-4300-9E91-A8AAA0A1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52775"/>
            <a:ext cx="666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38B41-19D1-4716-AEF4-FB5F482A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LostItemReport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F8DE7-E704-4F6E-AD5F-FB135A61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57600"/>
            <a:ext cx="1771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getType() → LOST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8EDBE-F803-45D1-B6FA-C6F64677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52775"/>
            <a:ext cx="21907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AE1FF-A96D-40C3-B924-175B5C84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52775"/>
            <a:ext cx="666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66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D1A34-6E41-40B6-8C45-3D80393A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86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FoundItemReport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E553D-662B-459C-9D3D-E11BA1F1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1771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getType() → FOUND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9CFBA-2019-4F12-9A36-A3CB8B6B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809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EE878-094E-44D8-B59B-D37A8B73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D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E8DA6-6EE5-4F0F-91F1-EBD258CC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B3A2D-B09D-48EB-94A6-4DDDBDE6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2390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Reporter identity and contact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32107-BE2A-4940-9EF4-5191CA82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629150"/>
            <a:ext cx="2809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F0F28-E376-408F-8EED-2CD3F4AF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6291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E815E-72C2-4607-9509-175755B4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62500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Enums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1DDAA-714B-423C-BB04-25F2E59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133975"/>
            <a:ext cx="2390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ReportType and ItemStatus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AF37D7-C9D5-4E1D-9296-CBAF0278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C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D2C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2C3B"/>
                </a:solidFill>
                <a:latin typeface="Arial"/>
                <a:ea typeface="Arial"/>
                <a:cs typeface="Arial"/>
              </a:rPr>
              <a:t>Each ItemReport has a User reporter</a:t>
            </a:r>
          </a:p>
        </p:txBody>
      </p:sp>
    </p:spTree>
    <p:extLst>
      <p:ext uri="{BB962C8B-B14F-4D97-AF65-F5344CB8AC3E}">
        <p14:creationId xmlns:p14="http://schemas.microsoft.com/office/powerpoint/2010/main" val="507569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6AFFB-14C3-4670-94EB-38B0EB26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09E98-D81E-4C89-98F8-37AFFFB0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Encapsulation and abstraction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1B851-4678-4DAB-869C-27900905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87B60-89FC-45C0-A67E-600D6C7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0C60C-4A6F-4378-9732-36E3A75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A47FF-3587-49D7-856F-CC037A27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519112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24969-3D9F-4251-991D-08B57563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666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4C037-9A3C-4F01-AFA0-2EFAEF5A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906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Encapsulation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CB1A8-DC21-45FC-8456-1C5FB91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720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ItemReport fields are private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Data is read through getters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Status is not publicly assignable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markClaimed() and markReturned() guard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This protects each object’s valid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1AA8C-9685-4BEE-8DBF-DE4F09DB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57325"/>
            <a:ext cx="519112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85F29-2754-46B5-85CF-C5B8073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57325"/>
            <a:ext cx="666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82418-BCFA-48FA-A137-80C62C6E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906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Abstraction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BDF8C-79DD-44AB-9DB4-B1431BC2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62150"/>
            <a:ext cx="4772025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ItemReport is abstract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It defines common data and behavior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getType() is abstract</a:t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Callers can work with an ItemReport without knowing its subtype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base class captures the shared report idea.</a:t>
            </a:r>
          </a:p>
        </p:txBody>
      </p:sp>
    </p:spTree>
    <p:extLst>
      <p:ext uri="{BB962C8B-B14F-4D97-AF65-F5344CB8AC3E}">
        <p14:creationId xmlns:p14="http://schemas.microsoft.com/office/powerpoint/2010/main" val="859238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46D78-E597-4799-ADF0-AAD6486B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D7DB1-4AC0-42A7-BE2F-BFA68EC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Inheritance and polymorphism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CCA29-E599-444F-9194-1F7B6098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EDB20-38B4-440A-9F77-33368716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45AF7-1F71-44D2-BB7E-C0CA82F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8FD04-1B06-4E9C-932A-55759285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500062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C7870-4BEC-49FE-8361-3A17B23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666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1EF3A-72F0-4CE4-8C9E-E1221020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60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Inheritance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D8982-A42B-46CC-B72A-B150311C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5815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LostItemReport extends ItemReport</a:t>
            </a:r>
          </a:p>
          <a:p xmlns:a="http://schemas.openxmlformats.org/drawingml/2006/main">
            <a:pPr algn="l">
              <a:defRPr sz="14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FoundItemReport extends ItemReport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Both inherit title, description, location, reporter, date, and status behavior. Each overrides getType().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47BFD-A9ED-47F6-AAF6-CF34BC00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47800"/>
            <a:ext cx="5334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7EBF2-0D1E-4D57-A2D7-3D09D157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47800"/>
            <a:ext cx="666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65CAE-80C6-4D5C-B39C-E9E67ACC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811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Polymorphism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250A5-BA5C-4F07-9930-62AD4B9F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52625"/>
            <a:ext cx="4914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service stores both subtypes 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List&lt;ItemReport&gt; reports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Calling getType() invokes the implementation for the actual object.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AC0B1-917E-45E7-A6C0-A870CEB0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372100"/>
            <a:ext cx="7620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F8ECE-F27D-407D-9387-8EC1480D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8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ctr">
              <a:defRPr sz="15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One base type • multiple concrete report types</a:t>
            </a:r>
          </a:p>
        </p:txBody>
      </p:sp>
    </p:spTree>
    <p:extLst>
      <p:ext uri="{BB962C8B-B14F-4D97-AF65-F5344CB8AC3E}">
        <p14:creationId xmlns:p14="http://schemas.microsoft.com/office/powerpoint/2010/main" val="1352072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73211-05B4-485B-A159-A8C2B4C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262D6-2D86-4895-AD90-D1F8335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Enums, collections, and object collaboration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6B15B-07E2-477A-9EA0-C952AF63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BEE0D-8681-4DD2-8A09-FFC27E6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340F5-2F10-4981-A40E-4370CD37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EC3FA-1C2A-40B6-AB11-A7D42DDC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33337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2042D-E035-428B-BA7D-4B3E85C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666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499A9-E183-47E2-9D35-A0B8CBE8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Enums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02D56-407A-4534-9A4A-C3E0945D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ItemStatus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OPEN, CLAIMED, RETURNED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ReportType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LOST, FOUND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Enums prevent arbitrary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0E65C-D88C-4321-B517-8ED12988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66850"/>
            <a:ext cx="33337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20FC1-1CEB-44AF-B7BE-7764BEFD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66850"/>
            <a:ext cx="666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43B8F-E2A5-4C45-8B12-FC5DEB2C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002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Collections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BE785-8272-4BF5-B1EC-F17B2B1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71675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ArrayList&lt;ItemReport&gt; stores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List is the general collection type. Optional represents a lookup that might not find an ID.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777F9-1FBA-4E02-B53D-79365B2C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33337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61FE4-88C5-4DAB-8288-45671DC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666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88A16-43C8-4A09-B939-F2056F2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F893D-E063-4D51-8290-E736DDA0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71675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Each ItemReport contains a User reporter.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 report has a reporter: this is a has-a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885679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FE68A-A990-41EB-B00A-9D709215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850FF-13E1-4A5D-A132-38E8476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Search and possible-match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F5F20-DEC9-4D65-B054-EC9D7DCB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8877E-30AD-46DB-9045-EF5E6E97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E2188-D243-4754-9227-B3436C2E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6ABBD-2DAC-4728-83DD-73C87C6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5191125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32678-EA89-4E34-BBBF-4FE04508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6667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26DD2-B4F4-498D-BDAB-9BE2AFAE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906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35929-0798-4010-AA86-C5FBC59F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720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1  Trim the query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2  Compare without case sensitivity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3  Search title, description, category, location, reporter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4  Sort results by report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 blank query returns all reports.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D813C-43F5-4B5D-980B-34D0359D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57325"/>
            <a:ext cx="5191125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D750B-5B2E-4274-A8C7-D7AB1F88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57325"/>
            <a:ext cx="6667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A812A-98F9-4511-92B4-7CB598F7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906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Possible matches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8874B-E051-497C-9FE0-4B90D45C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62150"/>
            <a:ext cx="47720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1  Choose the opposite report type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2  Keep OPEN candidates only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3  Count shared descriptive words over two characters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4  Add a point for a known location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5  Rank and show up to five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0C37F-C11F-44C0-B575-8947333D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340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Suggestions require human confirmation; they do not prove item identity.</a:t>
            </a:r>
          </a:p>
        </p:txBody>
      </p:sp>
    </p:spTree>
    <p:extLst>
      <p:ext uri="{BB962C8B-B14F-4D97-AF65-F5344CB8AC3E}">
        <p14:creationId xmlns:p14="http://schemas.microsoft.com/office/powerpoint/2010/main" val="1055445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BB86D-0AC2-452F-A60B-666D58C6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B0FF1-6C47-4FED-869C-C59001F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Persistence and report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62A8C-3023-4429-83E9-B7A10D4A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AF924-BA9D-4566-A663-D7254639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6E425-AACF-42C0-B40A-52BAF0E4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5729E-59B5-414D-87F1-77669B7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5191125" cy="3705225"/>
          </a:xfrm>
          <a:prstGeom xmlns:a="http://schemas.openxmlformats.org/drawingml/2006/main" prst="roundRect">
            <a:avLst>
              <a:gd name="adj" fmla="val 2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32DF0-0175-4438-981F-D2F427E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66675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7A08D-ABAF-41BF-B05C-C1A0937C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906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Saving and loading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0E218-0A7D-4214-8326-89F09AA4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72025" cy="311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Path: data/reports.tsv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Load on startup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Save after report/status changes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Save again on exit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Version header and 12 columns per row</a:t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• Date, type, state, reporter, claimant retained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B3043-A35B-4E6A-AAC7-4987D9F0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57325"/>
            <a:ext cx="5191125" cy="3705225"/>
          </a:xfrm>
          <a:prstGeom xmlns:a="http://schemas.openxmlformats.org/drawingml/2006/main" prst="roundRect">
            <a:avLst>
              <a:gd name="adj" fmla="val 2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E8196-7E3D-4D9B-B5EE-CD937C6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57325"/>
            <a:ext cx="66675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D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5652D-553F-40FD-8C1D-3CB7177D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9067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Record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1E6C4-CDCC-4CE8-A9E3-07BA1E81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62150"/>
            <a:ext cx="4772025" cy="311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Text fields use URL-safe Base64 so tabs and new lines do not break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Base64 is encoding, not encryption. Contact details are not protected.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 temporary file is written before replacing the saved snapshot.</a:t>
            </a:r>
          </a:p>
        </p:txBody>
      </p:sp>
    </p:spTree>
    <p:extLst>
      <p:ext uri="{BB962C8B-B14F-4D97-AF65-F5344CB8AC3E}">
        <p14:creationId xmlns:p14="http://schemas.microsoft.com/office/powerpoint/2010/main" val="1046569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39972-91A6-4ED1-AA6E-AAC00F26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C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DF73E-1403-4E82-A890-BA3909BF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Demo plan, run command,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1F7E6-97FC-46C4-9E26-1563B71E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9AD80-052F-48CC-B18C-4BC427AF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CAMPUS LOST-AND-FOUND  •  JAVA OOP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A9697-FE41-4A47-98B0-8F78C37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6AD65-4A49-40A7-816E-20C7A808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4953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92984-26AD-4C68-995C-7344701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23657-65D9-48A2-BFC9-12A4214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Demo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AF161-015A-4380-B938-DD044DF1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533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Create lost/found bottle reports; view match; claim; mark returned; restart to show persistence.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9C1F-D6D8-469E-9CC1-8C6C65BE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81125"/>
            <a:ext cx="4953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1B7E5-CEBC-4AD8-83A6-DF4CEDCB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81125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D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1F3D1-095E-4C12-AAF1-5C55AF6B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14475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A8072-00BD-4D4B-888F-27FDAED0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4533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Local single-process file, no authentication, no GUI, and heuristic matches requiring confirmation.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126DA-78BC-43E1-BB59-260E9413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 algn="l">
              <a:defRPr sz="172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Compile and run from the project root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DC6F2-75A6-4699-B9DE-5FC5A98F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09347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42B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4371A-2EC5-4074-AFBE-A00F9F0A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javac -encoding UTF-8 -d out src\main\java\edu\campus\lostfound\*.java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-cp out edu.campus.lostfound.Main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CB18D-792E-49EF-9BFD-0FF1A67B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779"/>
                </a:solidFill>
                <a:latin typeface="Arial"/>
                <a:ea typeface="Arial"/>
                <a:cs typeface="Arial"/>
              </a:rPr>
              <a:t>Compile all files in package edu.campus.lostfound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1954D-17DB-4EE1-BB56-F7A9207A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76057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2026-10-05T09:55:37.6590000Z</dcterms:created>
  <dcterms:modified xsi:type="dcterms:W3CDTF">2026-10-05T09:55:37.6600000Z</dcterms:modified>
</coreProperties>
</file>